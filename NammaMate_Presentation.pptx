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09728" cy="347472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3E635"/>
                </a:solidFill>
                <a:latin typeface="Segoe UI"/>
              </a:defRPr>
            </a:pPr>
            <a:r>
              <a:t>KANNADA DIGITAL INNOVATION HACKATHON 2026</a:t>
            </a:r>
          </a:p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NammaMate (ನಮ್ಮ ಮೇಟ್)</a:t>
            </a:r>
          </a:p>
          <a:p>
            <a:pPr>
              <a:spcAft>
                <a:spcPts val="2400"/>
              </a:spcAft>
              <a:defRPr sz="2000">
                <a:solidFill>
                  <a:srgbClr val="D9F99D"/>
                </a:solidFill>
                <a:latin typeface="Segoe UI"/>
              </a:defRPr>
            </a:pPr>
            <a:r>
              <a:t>A Little Kannada. A Lot More Connection.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Track: Problem Statement 03 — Kannada in Everyday Life</a:t>
            </a:r>
          </a:p>
          <a:p>
            <a:pPr>
              <a:defRPr sz="1300">
                <a:solidFill>
                  <a:srgbClr val="B4CDC3"/>
                </a:solidFill>
                <a:latin typeface="Segoe UI"/>
              </a:defRPr>
            </a:pPr>
            <a:r>
              <a:t>Everyday Situational Assistant with AI Pronunciation Coach &amp; Street Mode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SECTION 01</a:t>
            </a:r>
          </a:p>
          <a:p>
            <a:pPr>
              <a:defRPr sz="2600" b="1">
                <a:solidFill>
                  <a:srgbClr val="102B28"/>
                </a:solidFill>
                <a:latin typeface="Segoe UI"/>
              </a:defRPr>
            </a:pPr>
            <a:r>
              <a:t>Problem Statement &amp; Context</a:t>
            </a:r>
          </a:p>
          <a:p>
            <a:pPr>
              <a:defRPr sz="1300">
                <a:solidFill>
                  <a:srgbClr val="64746E"/>
                </a:solidFill>
                <a:latin typeface="Segoe UI"/>
              </a:defRPr>
            </a:pPr>
            <a:r>
              <a:t>Who is affected, why it matters, and the urban migration communication gap.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4747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THE DEMOGRAPHIC CONTEXT</a:t>
            </a:r>
          </a:p>
          <a:p>
            <a:pPr>
              <a:spcAft>
                <a:spcPts val="1400"/>
              </a:spcAft>
              <a:defRPr sz="1800" b="1">
                <a:solidFill>
                  <a:srgbClr val="102B28"/>
                </a:solidFill>
                <a:latin typeface="Segoe UI"/>
              </a:defRPr>
            </a:pPr>
            <a:r>
              <a:t>Urban Influx in Karnataka</a:t>
            </a:r>
          </a:p>
          <a:p>
            <a:pPr>
              <a:defRPr sz="1300">
                <a:solidFill>
                  <a:srgbClr val="14231E"/>
                </a:solidFill>
                <a:latin typeface="Segoe UI"/>
              </a:defRPr>
            </a:pPr>
            <a:r>
              <a:t>Karnataka—particularly Bengaluru, Mysuru, Hubballi, and Mangaluru—welcomes millions of non-Kannada speaking students, tech engineers, and healthcare workers every year.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828800"/>
            <a:ext cx="34747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210312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THE PAIN POINT</a:t>
            </a:r>
          </a:p>
          <a:p>
            <a:pPr>
              <a:spcAft>
                <a:spcPts val="1400"/>
              </a:spcAft>
              <a:defRPr sz="1800" b="1">
                <a:solidFill>
                  <a:srgbClr val="102B28"/>
                </a:solidFill>
                <a:latin typeface="Segoe UI"/>
              </a:defRPr>
            </a:pPr>
            <a:r>
              <a:t>High-Stakes Language Anxiety</a:t>
            </a:r>
          </a:p>
          <a:p>
            <a:pPr>
              <a:defRPr sz="1300">
                <a:solidFill>
                  <a:srgbClr val="14231E"/>
                </a:solidFill>
                <a:latin typeface="Segoe UI"/>
              </a:defRPr>
            </a:pPr>
            <a:r>
              <a:t>When non-Kannada speakers step onto the street, communicate with auto drivers, negotiate at local vegetable markets, or visit pharmacies, intense fear of miscommunication leads to friction and awkwardness.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828800"/>
            <a:ext cx="34747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10312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WHY IT MATTERS</a:t>
            </a:r>
          </a:p>
          <a:p>
            <a:pPr>
              <a:spcAft>
                <a:spcPts val="1400"/>
              </a:spcAft>
              <a:defRPr sz="1800" b="1">
                <a:solidFill>
                  <a:srgbClr val="102B28"/>
                </a:solidFill>
                <a:latin typeface="Segoe UI"/>
              </a:defRPr>
            </a:pPr>
            <a:r>
              <a:t>Cultural Harmony &amp; Everyday Ease</a:t>
            </a:r>
          </a:p>
          <a:p>
            <a:pPr>
              <a:defRPr sz="1300">
                <a:solidFill>
                  <a:srgbClr val="14231E"/>
                </a:solidFill>
                <a:latin typeface="Segoe UI"/>
              </a:defRPr>
            </a:pPr>
            <a:r>
              <a:t>Language should build bridges, not barriers. Newcomers genuinely want to respect local customs, but conventional language tools fail to provide practical, conversational survival confidence.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SECTION 02</a:t>
            </a:r>
          </a:p>
          <a:p>
            <a:pPr>
              <a:defRPr sz="2600" b="1">
                <a:solidFill>
                  <a:srgbClr val="102B28"/>
                </a:solidFill>
                <a:latin typeface="Segoe UI"/>
              </a:defRPr>
            </a:pPr>
            <a:r>
              <a:t>Existing Systems &amp; Critical Gaps</a:t>
            </a:r>
          </a:p>
          <a:p>
            <a:pPr>
              <a:defRPr sz="1300">
                <a:solidFill>
                  <a:srgbClr val="64746E"/>
                </a:solidFill>
                <a:latin typeface="Segoe UI"/>
              </a:defRPr>
            </a:pPr>
            <a:r>
              <a:t>How everyday Kannada communication is handled today, and where existing tools fail.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10698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9144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2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2B28"/>
                </a:solidFill>
                <a:latin typeface="Segoe UI"/>
              </a:defRPr>
            </a:pPr>
            <a:r>
              <a:t>Google Translate / Generic LLMs</a:t>
            </a:r>
          </a:p>
          <a:p>
            <a:pPr>
              <a:defRPr sz="1200">
                <a:solidFill>
                  <a:srgbClr val="14231E"/>
                </a:solidFill>
                <a:latin typeface="Segoe UI"/>
              </a:defRPr>
            </a:pPr>
            <a:r>
              <a:t>• Generates overly formal, textbook Kannada that locals never use in daily speech.</a:t>
            </a:r>
          </a:p>
          <a:p>
            <a:pPr>
              <a:defRPr sz="1200">
                <a:solidFill>
                  <a:srgbClr val="14231E"/>
                </a:solidFill>
                <a:latin typeface="Segoe UI"/>
              </a:defRPr>
            </a:pPr>
            <a:r>
              <a:t>• Translates literal words without conversational context or cultural tone.</a:t>
            </a:r>
          </a:p>
          <a:p>
            <a:pPr>
              <a:defRPr sz="1200">
                <a:solidFill>
                  <a:srgbClr val="14231E"/>
                </a:solidFill>
                <a:latin typeface="Segoe UI"/>
              </a:defRPr>
            </a:pPr>
            <a:r>
              <a:t>• Unusable when you need an immediate response in a bustling auto stand.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39"/>
            <a:ext cx="10698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291839"/>
            <a:ext cx="9144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28999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2B28"/>
                </a:solidFill>
                <a:latin typeface="Segoe UI"/>
              </a:defRPr>
            </a:pPr>
            <a:r>
              <a:t>Duolingo &amp; Traditional Apps</a:t>
            </a:r>
          </a:p>
          <a:p>
            <a:pPr>
              <a:defRPr sz="1200">
                <a:solidFill>
                  <a:srgbClr val="14231E"/>
                </a:solidFill>
                <a:latin typeface="Segoe UI"/>
              </a:defRPr>
            </a:pPr>
            <a:r>
              <a:t>• Focuses on repetitive, academic grammar exercises ('The cat drinks milk').</a:t>
            </a:r>
          </a:p>
          <a:p>
            <a:pPr>
              <a:defRPr sz="1200">
                <a:solidFill>
                  <a:srgbClr val="14231E"/>
                </a:solidFill>
                <a:latin typeface="Segoe UI"/>
              </a:defRPr>
            </a:pPr>
            <a:r>
              <a:t>• Completely lacks high-frequency local survival scenarios like 'Meter haaki sir' or 'By-two coffee kodi'.</a:t>
            </a:r>
          </a:p>
          <a:p>
            <a:pPr>
              <a:defRPr sz="1200">
                <a:solidFill>
                  <a:srgbClr val="14231E"/>
                </a:solidFill>
                <a:latin typeface="Segoe UI"/>
              </a:defRPr>
            </a:pPr>
            <a:r>
              <a:t>• Requires weeks of commitment before a learner can speak a single sentence.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9144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9834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2B28"/>
                </a:solidFill>
                <a:latin typeface="Segoe UI"/>
              </a:defRPr>
            </a:pPr>
            <a:r>
              <a:t>Printed Phrasebooks &amp; Static Guides</a:t>
            </a:r>
          </a:p>
          <a:p>
            <a:pPr>
              <a:defRPr sz="1200">
                <a:solidFill>
                  <a:srgbClr val="14231E"/>
                </a:solidFill>
                <a:latin typeface="Segoe UI"/>
              </a:defRPr>
            </a:pPr>
            <a:r>
              <a:t>• Clunky and impossible to search quickly while on the move.</a:t>
            </a:r>
          </a:p>
          <a:p>
            <a:pPr>
              <a:defRPr sz="1200">
                <a:solidFill>
                  <a:srgbClr val="14231E"/>
                </a:solidFill>
                <a:latin typeface="Segoe UI"/>
              </a:defRPr>
            </a:pPr>
            <a:r>
              <a:t>• Zero native pronunciation feedback or syllable guidance.</a:t>
            </a:r>
          </a:p>
          <a:p>
            <a:pPr>
              <a:defRPr sz="1200">
                <a:solidFill>
                  <a:srgbClr val="14231E"/>
                </a:solidFill>
                <a:latin typeface="Segoe UI"/>
              </a:defRPr>
            </a:pPr>
            <a:r>
              <a:t>• Leads to silence, miscommunication, and friction in daily transactions.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SECTION 03</a:t>
            </a:r>
          </a:p>
          <a:p>
            <a:pPr>
              <a:defRPr sz="2600" b="1">
                <a:solidFill>
                  <a:srgbClr val="102B28"/>
                </a:solidFill>
                <a:latin typeface="Segoe UI"/>
              </a:defRPr>
            </a:pPr>
            <a:r>
              <a:t>How NammaMate Is Different</a:t>
            </a:r>
          </a:p>
          <a:p>
            <a:pPr>
              <a:defRPr sz="1300">
                <a:solidFill>
                  <a:srgbClr val="64746E"/>
                </a:solidFill>
                <a:latin typeface="Segoe UI"/>
              </a:defRPr>
            </a:pPr>
            <a:r>
              <a:t>Key innovations that elevate NammaMate into an indispensable everyday companion.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65760" cy="365760"/>
          </a:xfrm>
          <a:prstGeom prst="roundRect">
            <a:avLst/>
          </a:prstGeom>
          <a:solidFill>
            <a:srgbClr val="10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93392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B28"/>
                </a:solidFill>
                <a:latin typeface="Segoe UI"/>
              </a:defRPr>
            </a:pPr>
            <a:r>
              <a:t>Street Mode / Driver Card</a:t>
            </a:r>
          </a:p>
          <a:p>
            <a:pPr>
              <a:defRPr sz="1100">
                <a:solidFill>
                  <a:srgbClr val="14231E"/>
                </a:solidFill>
                <a:latin typeface="Segoe UI"/>
              </a:defRPr>
            </a:pPr>
            <a:r>
              <a:t>High-contrast, extra-large Kannada cards designed to be tilted and shown directly to auto drivers and vendors when words escape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26280" y="2011680"/>
            <a:ext cx="365760" cy="365760"/>
          </a:xfrm>
          <a:prstGeom prst="roundRect">
            <a:avLst/>
          </a:prstGeom>
          <a:solidFill>
            <a:srgbClr val="10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993392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B28"/>
                </a:solidFill>
                <a:latin typeface="Segoe UI"/>
              </a:defRPr>
            </a:pPr>
            <a:r>
              <a:t>AI Pronunciation Coach</a:t>
            </a:r>
          </a:p>
          <a:p>
            <a:pPr>
              <a:defRPr sz="1100">
                <a:solidFill>
                  <a:srgbClr val="14231E"/>
                </a:solidFill>
                <a:latin typeface="Segoe UI"/>
              </a:defRPr>
            </a:pPr>
            <a:r>
              <a:t>Built-in speech recognition evaluates spoken Kannada with real-time phonetic match scores (e.g. 96%) and local praise ('Sakkath!').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2011680"/>
            <a:ext cx="365760" cy="365760"/>
          </a:xfrm>
          <a:prstGeom prst="roundRect">
            <a:avLst/>
          </a:prstGeom>
          <a:solidFill>
            <a:srgbClr val="10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993392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B28"/>
                </a:solidFill>
                <a:latin typeface="Segoe UI"/>
              </a:defRPr>
            </a:pPr>
            <a:r>
              <a:t>Interactive Roleplay AI</a:t>
            </a:r>
          </a:p>
          <a:p>
            <a:pPr>
              <a:defRPr sz="1100">
                <a:solidFill>
                  <a:srgbClr val="14231E"/>
                </a:solidFill>
                <a:latin typeface="Segoe UI"/>
              </a:defRPr>
            </a:pPr>
            <a:r>
              <a:t>Stepped conversation simulator (Bengaluru Auto ride, Darshini coffee ordering, KR Market bargaining) with scoring and etiquette tips.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4251960"/>
            <a:ext cx="365760" cy="365760"/>
          </a:xfrm>
          <a:prstGeom prst="roundRect">
            <a:avLst/>
          </a:prstGeom>
          <a:solidFill>
            <a:srgbClr val="10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33672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B28"/>
                </a:solidFill>
                <a:latin typeface="Segoe UI"/>
              </a:defRPr>
            </a:pPr>
            <a:r>
              <a:t>Polite &amp; Respectful Tone Engine</a:t>
            </a:r>
          </a:p>
          <a:p>
            <a:pPr>
              <a:defRPr sz="1100">
                <a:solidFill>
                  <a:srgbClr val="14231E"/>
                </a:solidFill>
                <a:latin typeface="Segoe UI"/>
              </a:defRPr>
            </a:pPr>
            <a:r>
              <a:t>Teaches crucial cultural etiquette—why using 'Banni'/'Kodi' instead of 'Ba'/'Kodu' wins local respect across Karnataka.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0690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26280" y="4251960"/>
            <a:ext cx="365760" cy="365760"/>
          </a:xfrm>
          <a:prstGeom prst="roundRect">
            <a:avLst/>
          </a:prstGeom>
          <a:solidFill>
            <a:srgbClr val="10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4233672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B28"/>
                </a:solidFill>
                <a:latin typeface="Segoe UI"/>
              </a:defRPr>
            </a:pPr>
            <a:r>
              <a:t>100% Offline-First Resilience</a:t>
            </a:r>
          </a:p>
          <a:p>
            <a:pPr>
              <a:defRPr sz="1100">
                <a:solidFill>
                  <a:srgbClr val="14231E"/>
                </a:solidFill>
                <a:latin typeface="Segoe UI"/>
              </a:defRPr>
            </a:pPr>
            <a:r>
              <a:t>All 50 phrases and audio tools are cached locally. Zero lag even in metro tunnels or low 5G connectivity areas.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40690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4251960"/>
            <a:ext cx="365760" cy="365760"/>
          </a:xfrm>
          <a:prstGeom prst="roundRect">
            <a:avLst/>
          </a:prstGeom>
          <a:solidFill>
            <a:srgbClr val="10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4233672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B28"/>
                </a:solidFill>
                <a:latin typeface="Segoe UI"/>
              </a:defRPr>
            </a:pPr>
            <a:r>
              <a:t>One-Tap Emergency SOS</a:t>
            </a:r>
          </a:p>
          <a:p>
            <a:pPr>
              <a:defRPr sz="1100">
                <a:solidFill>
                  <a:srgbClr val="14231E"/>
                </a:solidFill>
                <a:latin typeface="Segoe UI"/>
              </a:defRPr>
            </a:pPr>
            <a:r>
              <a:t>Instant distress phrases with audio and verified 1-tap dialers for Karnataka 112 (Police), 108 (Ambulance), and 1091 (Women Safety).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SECTION 04</a:t>
            </a:r>
          </a:p>
          <a:p>
            <a:pPr>
              <a:defRPr sz="2600" b="1">
                <a:solidFill>
                  <a:srgbClr val="102B28"/>
                </a:solidFill>
                <a:latin typeface="Segoe UI"/>
              </a:defRPr>
            </a:pPr>
            <a:r>
              <a:t>Approach &amp; Key Design Decisions</a:t>
            </a:r>
          </a:p>
          <a:p>
            <a:pPr>
              <a:defRPr sz="1300">
                <a:solidFill>
                  <a:srgbClr val="64746E"/>
                </a:solidFill>
                <a:latin typeface="Segoe UI"/>
              </a:defRPr>
            </a:pPr>
            <a:r>
              <a:t>User-centric methodology designed for high-stress, real-world communication.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2560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2194560"/>
            <a:ext cx="548640" cy="548640"/>
          </a:xfrm>
          <a:prstGeom prst="ellipse">
            <a:avLst/>
          </a:prstGeom>
          <a:solidFill>
            <a:srgbClr val="10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A3E635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2608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STEP 1: SITUATION FIRST</a:t>
            </a:r>
          </a:p>
          <a:p>
            <a:pPr>
              <a:spcAft>
                <a:spcPts val="800"/>
              </a:spcAft>
              <a:defRPr sz="1500" b="1">
                <a:solidFill>
                  <a:srgbClr val="102B28"/>
                </a:solidFill>
                <a:latin typeface="Segoe UI"/>
              </a:defRPr>
            </a:pPr>
            <a:r>
              <a:t>Divided by Real Needs</a:t>
            </a:r>
          </a:p>
          <a:p>
            <a:pPr>
              <a:defRPr sz="1200">
                <a:solidFill>
                  <a:srgbClr val="14231E"/>
                </a:solidFill>
                <a:latin typeface="Segoe UI"/>
              </a:defRPr>
            </a:pPr>
            <a:r>
              <a:t>Structured around the 5 highest-friction everyday pillars: Travel, Shopping, Food/Darshinis, Healthcare, and College.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920240"/>
            <a:ext cx="2560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0" y="2194560"/>
            <a:ext cx="548640" cy="548640"/>
          </a:xfrm>
          <a:prstGeom prst="ellipse">
            <a:avLst/>
          </a:prstGeom>
          <a:solidFill>
            <a:srgbClr val="10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945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A3E635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92608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STEP 2: BILINGUAL CLARITY</a:t>
            </a:r>
          </a:p>
          <a:p>
            <a:pPr>
              <a:spcAft>
                <a:spcPts val="800"/>
              </a:spcAft>
              <a:defRPr sz="1500" b="1">
                <a:solidFill>
                  <a:srgbClr val="102B28"/>
                </a:solidFill>
                <a:latin typeface="Segoe UI"/>
              </a:defRPr>
            </a:pPr>
            <a:r>
              <a:t>Dual Script &amp; Phonetics</a:t>
            </a:r>
          </a:p>
          <a:p>
            <a:pPr>
              <a:defRPr sz="1200">
                <a:solidFill>
                  <a:srgbClr val="14231E"/>
                </a:solidFill>
                <a:latin typeface="Segoe UI"/>
              </a:defRPr>
            </a:pPr>
            <a:r>
              <a:t>Every phrase displays clear Kannada script, Romanized English transliteration, natural meaning, and context tips.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920240"/>
            <a:ext cx="2560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5080" y="2194560"/>
            <a:ext cx="548640" cy="548640"/>
          </a:xfrm>
          <a:prstGeom prst="ellipse">
            <a:avLst/>
          </a:prstGeom>
          <a:solidFill>
            <a:srgbClr val="10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1945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A3E635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92608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STEP 3: PRACTICE &amp; VERIFY</a:t>
            </a:r>
          </a:p>
          <a:p>
            <a:pPr>
              <a:spcAft>
                <a:spcPts val="800"/>
              </a:spcAft>
              <a:defRPr sz="1500" b="1">
                <a:solidFill>
                  <a:srgbClr val="102B28"/>
                </a:solidFill>
                <a:latin typeface="Segoe UI"/>
              </a:defRPr>
            </a:pPr>
            <a:r>
              <a:t>AI Pronunciation Coach</a:t>
            </a:r>
          </a:p>
          <a:p>
            <a:pPr>
              <a:defRPr sz="1200">
                <a:solidFill>
                  <a:srgbClr val="14231E"/>
                </a:solidFill>
                <a:latin typeface="Segoe UI"/>
              </a:defRPr>
            </a:pPr>
            <a:r>
              <a:t>Users practice speaking with real-time phonetic string distance comparison, building vocal muscle memory before stepping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920240"/>
            <a:ext cx="2560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52560" y="2194560"/>
            <a:ext cx="548640" cy="548640"/>
          </a:xfrm>
          <a:prstGeom prst="ellipse">
            <a:avLst/>
          </a:prstGeom>
          <a:solidFill>
            <a:srgbClr val="10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1945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A3E635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92608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STEP 4: STREET DEPLOYMENT</a:t>
            </a:r>
          </a:p>
          <a:p>
            <a:pPr>
              <a:spcAft>
                <a:spcPts val="800"/>
              </a:spcAft>
              <a:defRPr sz="1500" b="1">
                <a:solidFill>
                  <a:srgbClr val="102B28"/>
                </a:solidFill>
                <a:latin typeface="Segoe UI"/>
              </a:defRPr>
            </a:pPr>
            <a:r>
              <a:t>Driver Card / Quick SOS</a:t>
            </a:r>
          </a:p>
          <a:p>
            <a:pPr>
              <a:defRPr sz="1200">
                <a:solidFill>
                  <a:srgbClr val="14231E"/>
                </a:solidFill>
                <a:latin typeface="Segoe UI"/>
              </a:defRPr>
            </a:pPr>
            <a:r>
              <a:t>If verbal speech fails under pressure, users flash the screen in Street Mode or trigger one-tap emergency dialers.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SECTION 05</a:t>
            </a:r>
          </a:p>
          <a:p>
            <a:pPr>
              <a:defRPr sz="2600" b="1">
                <a:solidFill>
                  <a:srgbClr val="102B28"/>
                </a:solidFill>
                <a:latin typeface="Segoe UI"/>
              </a:defRPr>
            </a:pPr>
            <a:r>
              <a:t>Tech Stack &amp; Architecture Diagram</a:t>
            </a:r>
          </a:p>
          <a:p>
            <a:pPr>
              <a:defRPr sz="1300">
                <a:solidFill>
                  <a:srgbClr val="64746E"/>
                </a:solidFill>
                <a:latin typeface="Segoe UI"/>
              </a:defRPr>
            </a:pPr>
            <a:r>
              <a:t>Robust, modern, lightweight stack ensuring zero latency and offline capability.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4937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01952"/>
            <a:ext cx="4572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B28"/>
                </a:solidFill>
                <a:latin typeface="Segoe UI"/>
              </a:defRPr>
            </a:pPr>
            <a:r>
              <a:t>Frontend &amp; UI Framework</a:t>
            </a:r>
          </a:p>
          <a:p>
            <a:pPr>
              <a:defRPr sz="1000">
                <a:solidFill>
                  <a:srgbClr val="64746E"/>
                </a:solidFill>
                <a:latin typeface="Segoe UI"/>
              </a:defRPr>
            </a:pPr>
            <a:r>
              <a:t>React 18 + TypeScript + Vite + Tailwind CSS (Responsive mobile-first)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97480"/>
            <a:ext cx="4937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70632"/>
            <a:ext cx="4572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B28"/>
                </a:solidFill>
                <a:latin typeface="Segoe UI"/>
              </a:defRPr>
            </a:pPr>
            <a:r>
              <a:t>Audio &amp; Speech Engine</a:t>
            </a:r>
          </a:p>
          <a:p>
            <a:pPr>
              <a:defRPr sz="1000">
                <a:solidFill>
                  <a:srgbClr val="64746E"/>
                </a:solidFill>
                <a:latin typeface="Segoe UI"/>
              </a:defRPr>
            </a:pPr>
            <a:r>
              <a:t>Web Speech Synthesis API ('kn-IN' dual-speed) &amp; Web Speech Recognition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4937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39312"/>
            <a:ext cx="4572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B28"/>
                </a:solidFill>
                <a:latin typeface="Segoe UI"/>
              </a:defRPr>
            </a:pPr>
            <a:r>
              <a:t>Scoring Algorithm</a:t>
            </a:r>
          </a:p>
          <a:p>
            <a:pPr>
              <a:defRPr sz="1000">
                <a:solidFill>
                  <a:srgbClr val="64746E"/>
                </a:solidFill>
                <a:latin typeface="Segoe UI"/>
              </a:defRPr>
            </a:pPr>
            <a:r>
              <a:t>Levenshtein String Distance &amp; Phonetic Token Matcher for Pronunciation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34840"/>
            <a:ext cx="4937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507992"/>
            <a:ext cx="4572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B28"/>
                </a:solidFill>
                <a:latin typeface="Segoe UI"/>
              </a:defRPr>
            </a:pPr>
            <a:r>
              <a:t>Cloud &amp; Database</a:t>
            </a:r>
          </a:p>
          <a:p>
            <a:pPr>
              <a:defRPr sz="1000">
                <a:solidFill>
                  <a:srgbClr val="64746E"/>
                </a:solidFill>
                <a:latin typeface="Segoe UI"/>
              </a:defRPr>
            </a:pPr>
            <a:r>
              <a:t>Supabase PostgreSQL with Row Level Security &amp; device-scoped synchronization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4937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76672"/>
            <a:ext cx="4572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B28"/>
                </a:solidFill>
                <a:latin typeface="Segoe UI"/>
              </a:defRPr>
            </a:pPr>
            <a:r>
              <a:t>Resilience &amp; Cache</a:t>
            </a:r>
          </a:p>
          <a:p>
            <a:pPr>
              <a:defRPr sz="1000">
                <a:solidFill>
                  <a:srgbClr val="64746E"/>
                </a:solidFill>
                <a:latin typeface="Segoe UI"/>
              </a:defRPr>
            </a:pPr>
            <a:r>
              <a:t>Pre-cached Offline Dataset (offlineData.ts) + LocalStorage Fallback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828800"/>
            <a:ext cx="5486400" cy="4297680"/>
          </a:xfrm>
          <a:prstGeom prst="roundRect">
            <a:avLst/>
          </a:prstGeom>
          <a:solidFill>
            <a:srgbClr val="10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01168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A3E635"/>
                </a:solidFill>
                <a:latin typeface="Segoe UI"/>
              </a:defRPr>
            </a:pPr>
            <a:r>
              <a:t>SYSTEM ARCHITECTURE &amp; DATA FLOW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┌──────────────────────────────────────────────────┐</a:t>
            </a:r>
            <a:br/>
            <a:r>
              <a:t>│              CLIENT USER INTERFACE               │</a:t>
            </a:r>
            <a:br/>
            <a:r>
              <a:t>│  [Situations]  [Roleplay AI]  [Street Mode Card] │</a:t>
            </a:r>
            <a:br/>
            <a:r>
              <a:t>│  [Smart Search] [Favorites]   [SOS Emergency]    │</a:t>
            </a:r>
            <a:br/>
            <a:r>
              <a:t>└────────────────────────┬─────────────────────────┘</a:t>
            </a:r>
            <a:br/>
            <a:r>
              <a:t>                         │</a:t>
            </a:r>
            <a:br/>
            <a:r>
              <a:t>         ┌───────────────┴───────────────┐</a:t>
            </a:r>
            <a:br/>
            <a:r>
              <a:t>         ▼                               ▼</a:t>
            </a:r>
            <a:br/>
            <a:r>
              <a:t>┌───────────────────┐           ┌──────────────────┐</a:t>
            </a:r>
            <a:br/>
            <a:r>
              <a:t>│  WEB SPEECH API   │           │ OFFLINE CACHE    │</a:t>
            </a:r>
            <a:br/>
            <a:r>
              <a:t>│ - SpeechSynthesis │           │ (Zero-Lag 50     │</a:t>
            </a:r>
            <a:br/>
            <a:r>
              <a:t>│ - kn-IN SpeechRec │           │  Survival Words) │</a:t>
            </a:r>
            <a:br/>
            <a:r>
              <a:t>└────────┬──────────┘           └────────┬─────────┘</a:t>
            </a:r>
            <a:br/>
            <a:r>
              <a:t>         │                               │</a:t>
            </a:r>
            <a:br/>
            <a:r>
              <a:t>         └───────────────┬───────────────┘</a:t>
            </a:r>
            <a:br/>
            <a:r>
              <a:t>                         ▼</a:t>
            </a:r>
            <a:br/>
            <a:r>
              <a:t>┌──────────────────────────────────────────────────┐</a:t>
            </a:r>
            <a:br/>
            <a:r>
              <a:t>│             SUPABASE CLOUD DATABASE             │</a:t>
            </a:r>
            <a:br/>
            <a:r>
              <a:t>│  PostgreSQL • Row Level Security • Device Sync   │</a:t>
            </a:r>
            <a:br/>
            <a:r>
              <a:t>└──────────────────────────────────────────────────┘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SECTION 06</a:t>
            </a:r>
          </a:p>
          <a:p>
            <a:pPr>
              <a:defRPr sz="2600" b="1">
                <a:solidFill>
                  <a:srgbClr val="102B28"/>
                </a:solidFill>
                <a:latin typeface="Segoe UI"/>
              </a:defRPr>
            </a:pPr>
            <a:r>
              <a:t>Impact, Conclusion &amp; Future Scope</a:t>
            </a:r>
          </a:p>
          <a:p>
            <a:pPr>
              <a:defRPr sz="1300">
                <a:solidFill>
                  <a:srgbClr val="64746E"/>
                </a:solidFill>
                <a:latin typeface="Segoe UI"/>
              </a:defRPr>
            </a:pPr>
            <a:r>
              <a:t>Bridging cultural gaps and turning hesitation into connection.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2578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03120"/>
            <a:ext cx="4617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REAL-WORLD IMPACT</a:t>
            </a:r>
          </a:p>
          <a:p>
            <a:pPr>
              <a:spcAft>
                <a:spcPts val="1000"/>
              </a:spcAft>
              <a:defRPr sz="1800" b="1">
                <a:solidFill>
                  <a:srgbClr val="102B28"/>
                </a:solidFill>
                <a:latin typeface="Segoe UI"/>
              </a:defRPr>
            </a:pPr>
            <a:r>
              <a:t>Promoting Cultural Harmony</a:t>
            </a:r>
          </a:p>
          <a:p>
            <a:pPr>
              <a:spcAft>
                <a:spcPts val="400"/>
              </a:spcAft>
              <a:defRPr sz="1200">
                <a:solidFill>
                  <a:srgbClr val="14231E"/>
                </a:solidFill>
                <a:latin typeface="Segoe UI"/>
              </a:defRPr>
            </a:pPr>
            <a:r>
              <a:t>• Eliminates fear and tension during daily transit and market visits.</a:t>
            </a:r>
          </a:p>
          <a:p>
            <a:pPr>
              <a:spcAft>
                <a:spcPts val="400"/>
              </a:spcAft>
              <a:defRPr sz="1200">
                <a:solidFill>
                  <a:srgbClr val="14231E"/>
                </a:solidFill>
                <a:latin typeface="Segoe UI"/>
              </a:defRPr>
            </a:pPr>
            <a:r>
              <a:t>• Shows non-Kannada speakers that learning Kannada is warm, approachable, and fun.</a:t>
            </a:r>
          </a:p>
          <a:p>
            <a:pPr>
              <a:spcAft>
                <a:spcPts val="400"/>
              </a:spcAft>
              <a:defRPr sz="1200">
                <a:solidFill>
                  <a:srgbClr val="14231E"/>
                </a:solidFill>
                <a:latin typeface="Segoe UI"/>
              </a:defRPr>
            </a:pPr>
            <a:r>
              <a:t>• Builds immediate goodwill with auto drivers, vendors, and locals through respectful etiquette.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828800"/>
            <a:ext cx="52578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2103120"/>
            <a:ext cx="4617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FUTURE ROADMAP</a:t>
            </a:r>
          </a:p>
          <a:p>
            <a:pPr>
              <a:spcAft>
                <a:spcPts val="1000"/>
              </a:spcAft>
              <a:defRPr sz="1800" b="1">
                <a:solidFill>
                  <a:srgbClr val="102B28"/>
                </a:solidFill>
                <a:latin typeface="Segoe UI"/>
              </a:defRPr>
            </a:pPr>
            <a:r>
              <a:t>Scaling Across Karnataka</a:t>
            </a:r>
          </a:p>
          <a:p>
            <a:pPr>
              <a:spcAft>
                <a:spcPts val="400"/>
              </a:spcAft>
              <a:defRPr sz="1200">
                <a:solidFill>
                  <a:srgbClr val="14231E"/>
                </a:solidFill>
                <a:latin typeface="Segoe UI"/>
              </a:defRPr>
            </a:pPr>
            <a:r>
              <a:t>• Regional Dialect Explorer: Expanding into North Karnataka, Kundapura/Mangaluru, and Mysuru colloquial idioms.</a:t>
            </a:r>
          </a:p>
          <a:p>
            <a:pPr>
              <a:spcAft>
                <a:spcPts val="400"/>
              </a:spcAft>
              <a:defRPr sz="1200">
                <a:solidFill>
                  <a:srgbClr val="14231E"/>
                </a:solidFill>
                <a:latin typeface="Segoe UI"/>
              </a:defRPr>
            </a:pPr>
            <a:r>
              <a:t>• Verified Native Audio: Crowdsourcing natural local voice clips from students across Karnataka.</a:t>
            </a:r>
          </a:p>
          <a:p>
            <a:pPr>
              <a:spcAft>
                <a:spcPts val="400"/>
              </a:spcAft>
              <a:defRPr sz="1200">
                <a:solidFill>
                  <a:srgbClr val="14231E"/>
                </a:solidFill>
                <a:latin typeface="Segoe UI"/>
              </a:defRPr>
            </a:pPr>
            <a:r>
              <a:t>• WhatsApp/Telegram Quick Bot: Instant survival phrase lookup directly inside chat apps.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10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Segoe UI"/>
              </a:defRPr>
            </a:pPr>
            <a:r>
              <a:t>Kannada Kaliyona, Karnataka Preetisana! (ಕನ್ನಡ ಕಲಿಯೋಣ, ಕರ್ನಾಟಕ ಪ್ರೀತಿಸೋಣ!)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Live Demo &amp; Source Code: Fully deployed on web • Open-source on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